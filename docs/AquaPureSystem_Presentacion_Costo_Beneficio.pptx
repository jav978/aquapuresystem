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0F3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800" b="1">
                <a:solidFill>
                  <a:srgbClr val="00D4B2"/>
                </a:solidFill>
              </a:defRPr>
            </a:pPr>
            <a:r>
              <a:t>AQUAPURE SYSTEM v1.0</a:t>
            </a:r>
          </a:p>
          <a:p>
            <a:pPr>
              <a:spcAft>
                <a:spcPts val="1600"/>
              </a:spcAft>
              <a:defRPr sz="2400" b="1">
                <a:solidFill>
                  <a:srgbClr val="FFFFFF"/>
                </a:solidFill>
              </a:defRPr>
            </a:pPr>
            <a:r>
              <a:t>Sistema Integral de Gestión, Punto de Venta Express y Control Operativo</a:t>
            </a:r>
          </a:p>
          <a:p>
            <a:pPr>
              <a:spcAft>
                <a:spcPts val="3000"/>
              </a:spcAft>
              <a:defRPr sz="1600">
                <a:solidFill>
                  <a:srgbClr val="CBD5E1"/>
                </a:solidFill>
              </a:defRPr>
            </a:pPr>
            <a:r>
              <a:t>Propuesta de Valor, Transformación Digital y Análisis Costo-Beneficio para Purificadoras de Agua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💼 Presentación Ejecutiva de Proyecto | 🚀 Retorno de Inversión (ROI) &lt; 3 Meses | ⚡ Arquitectura de Alto Rendimiento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7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A896"/>
                </a:solidFill>
              </a:defRPr>
            </a:pPr>
            <a:r>
              <a:t>1. DOLORES CRÍTICOS DEL SECTOR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Diagnóstico del Problema: Fugas Operativas en Purificadoras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AquaPureSystem — Software Especializado de Gestión y Punto de Venta para Purificadoras de Agua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228600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475487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991B1B"/>
                </a:solidFill>
              </a:defRPr>
            </a:pPr>
            <a:r>
              <a:t>1. Pérdida Crónica de Envases 19L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Fuga del 15% al 25% del parque de botellones por falta de control estricto de garantías y préstamos.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Cobro erróneo de recargas a clientes que no entregan envase vacío de intercambio.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Impacto anual: Miles de dólares perdidos en reposición constante de botellones nuevos.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228600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991B1B"/>
                </a:solidFill>
              </a:defRPr>
            </a:pPr>
            <a:r>
              <a:t>2. Descuadres y Fugas de Caja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Cierres de turno lentos e imprecisos que generan fricción y falta de transparencia con los cajeros.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Múltiples métodos de pago (Efectivo, Pago Móvil, Tarjetas, Divisas) sin conciliación automática.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Ausencia de arqueo ciego y auditoría en tiempo real para prevenir discrepancias.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120640" cy="228600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69080"/>
            <a:ext cx="475487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991B1B"/>
                </a:solidFill>
              </a:defRPr>
            </a:pPr>
            <a:r>
              <a:t>3. Lentitud en Horas Pico (POS)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Filas de espera prolongadas en taquilla debido a sistemas lentos o procesos manuales en papel.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Pérdida de clientes que abandonan la fila ante la demora en el despacho de agua.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El tiempo de atención actual supera los 90 a 120 segundos por transacción.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31920"/>
            <a:ext cx="5212080" cy="228600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06908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991B1B"/>
                </a:solidFill>
              </a:defRPr>
            </a:pPr>
            <a:r>
              <a:t>4. Falta de Visibilidad Multialmacén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Cero trazabilidad entre el stock de planta central, almacén de vacíos/lavado y camiones de reparto.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Pérdidas de botellones en rutas de distribución sin responsables asignados.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Imposibilidad de tomar decisiones basadas en datos de consumo y rentabilidad.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7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A896"/>
                </a:solidFill>
              </a:defRPr>
            </a:pPr>
            <a:r>
              <a:t>2. MODERNIZACIÓN Y AUTOMATIZACIÓN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La Solución: AquaPureSystem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AquaPureSystem — Software Especializado de Gestión y Punto de Venta para Purificadoras de Agua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3832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70F3"/>
                </a:solidFill>
              </a:defRPr>
            </a:pPr>
            <a:r>
              <a:t>⚡ Punto de Venta Express</a:t>
            </a:r>
          </a:p>
          <a:p>
            <a:pPr>
              <a:spcAft>
                <a:spcPts val="800"/>
              </a:spcAft>
              <a:defRPr sz="1100" b="1">
                <a:solidFill>
                  <a:srgbClr val="0070F3"/>
                </a:solidFill>
              </a:defRPr>
            </a:pPr>
            <a:r>
              <a:t>⭐ Agilidad en Taquilla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Diseñado para atención ultrarrápida en menos de 25 segundos.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Acceso directo por teclado (Atajos F1-F12) para máxima agilidad.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Validación automática de envase entregado vs recarga solicitada.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Impresión térmica instantánea ESC/POS (Tickets y Facturas).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Soporte multimoneda con conversión automática de cambio.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3832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0876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A896"/>
                </a:solidFill>
              </a:defRPr>
            </a:pPr>
            <a:r>
              <a:t>🔄 Control de Envases y Stock</a:t>
            </a:r>
          </a:p>
          <a:p>
            <a:pPr>
              <a:spcAft>
                <a:spcPts val="800"/>
              </a:spcAft>
              <a:defRPr sz="1100" b="1">
                <a:solidFill>
                  <a:srgbClr val="0070F3"/>
                </a:solidFill>
              </a:defRPr>
            </a:pPr>
            <a:r>
              <a:t>⭐ Cero Pérdida de Envases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Trazabilidad exacta del ciclo de vida del botellón 19L.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Diferenciación de almacenes: Llenos, Vacíos para Lavado, Mermas.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Módulo de inspección física de calidad (Aprobado vs Merma/Fisura).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Gestión de stock en camiones de reparto y transferencias en vivo.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Auditoría inmutable de entradas, salidas y ajustes de inventario.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50876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A2540"/>
                </a:solidFill>
              </a:defRPr>
            </a:pPr>
            <a:r>
              <a:t>💼 Caja, Finanzas y Auditoría</a:t>
            </a:r>
          </a:p>
          <a:p>
            <a:pPr>
              <a:spcAft>
                <a:spcPts val="800"/>
              </a:spcAft>
              <a:defRPr sz="1100" b="1">
                <a:solidFill>
                  <a:srgbClr val="0070F3"/>
                </a:solidFill>
              </a:defRPr>
            </a:pPr>
            <a:r>
              <a:t>⭐ Control Financiero Total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Arqueo de caja ciego con registro exacto de cada denominación.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Conciliación multimoneda (Efectivo, Pago Móvil, Tarjeta, Crédito).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Gestión de cuentas por cobrar y límites de crédito para distribuidores.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Dashboard gerencial con KPIs de ventas, productos más vendidos y márgenes.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Pista de auditoría completa (ActivityLog) con IP y usuario.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7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A896"/>
                </a:solidFill>
              </a:defRPr>
            </a:pPr>
            <a:r>
              <a:t>3. VARIABLES ESTADÍSTICAS &amp;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Métricas Clave e Impacto Operativo Proyectado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AquaPureSystem — Software Especializado de Gestión y Punto de Venta para Purificadoras de Agua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29184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63040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-95%</a:t>
            </a:r>
          </a:p>
          <a:p>
            <a:pPr algn="ctr">
              <a:spcAft>
                <a:spcPts val="200"/>
              </a:spcAft>
              <a:defRPr sz="1250" b="1">
                <a:solidFill>
                  <a:srgbClr val="0A2540"/>
                </a:solidFill>
              </a:defRPr>
            </a:pPr>
            <a:r>
              <a:t>PÉRDIDA DE ENVASES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Control estricto de garantía y retorno en cada recarga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38328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463040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0F3"/>
                </a:solidFill>
              </a:defRPr>
            </a:pPr>
            <a:r>
              <a:t>-70%</a:t>
            </a:r>
          </a:p>
          <a:p>
            <a:pPr algn="ctr">
              <a:spcAft>
                <a:spcPts val="200"/>
              </a:spcAft>
              <a:defRPr sz="1250" b="1">
                <a:solidFill>
                  <a:srgbClr val="0A2540"/>
                </a:solidFill>
              </a:defRPr>
            </a:pPr>
            <a:r>
              <a:t>TIEMPO DE ATENCIÓN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De 90 seg a menos de 25 seg por transacción en POS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38328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1463040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A896"/>
                </a:solidFill>
              </a:defRPr>
            </a:pPr>
            <a:r>
              <a:t>100%</a:t>
            </a:r>
          </a:p>
          <a:p>
            <a:pPr algn="ctr">
              <a:spcAft>
                <a:spcPts val="200"/>
              </a:spcAft>
              <a:defRPr sz="1250" b="1">
                <a:solidFill>
                  <a:srgbClr val="0A2540"/>
                </a:solidFill>
              </a:defRPr>
            </a:pPr>
            <a:r>
              <a:t>EXACTITUD EN CAJA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Eliminación de descuadres al cierre con arqueo ciego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329184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23359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0F3"/>
                </a:solidFill>
              </a:defRPr>
            </a:pPr>
            <a:r>
              <a:t>+40%</a:t>
            </a:r>
          </a:p>
          <a:p>
            <a:pPr algn="ctr">
              <a:spcAft>
                <a:spcPts val="200"/>
              </a:spcAft>
              <a:defRPr sz="1250" b="1">
                <a:solidFill>
                  <a:srgbClr val="0A2540"/>
                </a:solidFill>
              </a:defRPr>
            </a:pPr>
            <a:r>
              <a:t>CAPACIDAD DE DESPACHO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Mayor volumen de atención en horas pico sin contratar más personal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3931920"/>
            <a:ext cx="338328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4023359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-30%</a:t>
            </a:r>
          </a:p>
          <a:p>
            <a:pPr algn="ctr">
              <a:spcAft>
                <a:spcPts val="200"/>
              </a:spcAft>
              <a:defRPr sz="1250" b="1">
                <a:solidFill>
                  <a:srgbClr val="0A2540"/>
                </a:solidFill>
              </a:defRPr>
            </a:pPr>
            <a:r>
              <a:t>COSTO POR MERMAS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Detección temprana de fisuras y trazabilidad por lote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3931920"/>
            <a:ext cx="338328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4023359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97706"/>
                </a:solidFill>
              </a:defRPr>
            </a:pPr>
            <a:r>
              <a:t>&lt; 3 MESES</a:t>
            </a:r>
          </a:p>
          <a:p>
            <a:pPr algn="ctr">
              <a:spcAft>
                <a:spcPts val="200"/>
              </a:spcAft>
              <a:defRPr sz="1250" b="1">
                <a:solidFill>
                  <a:srgbClr val="0A2540"/>
                </a:solidFill>
              </a:defRPr>
            </a:pPr>
            <a:r>
              <a:t>RETORNO DE INVERSIÓN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Payback garantizado mediante ahorro directo de fugas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7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A896"/>
                </a:solidFill>
              </a:defRPr>
            </a:pPr>
            <a:r>
              <a:t>4. MODELO FINANCIERO Y AHORRO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Análisis Costo-Beneficio: Planta Mediana (500 Botellones/Día)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AquaPureSystem — Software Especializado de Gestión y Punto de Venta para Purificadoras de Agua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991B1B"/>
                </a:solidFill>
              </a:defRPr>
            </a:pPr>
            <a:r>
              <a:t>📉 Fugas Actuales (Sin Sistema)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Pérdida promedio de 40 a 60 botellones/mes no devueltos: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  ➔ Costo directo reposición: $280 - $420 USD/mes.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Descuadres de caja y dinero no registrado: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  ➔ Pérdida estimada: $150 - $300 USD/mes.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Tiempo operativo improductivo en arqueos y reclamos: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  ➔ Pérdida de productividad: 35 horas/mes ($180 USD).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Ventas perdidas por filas lentas en horas pico: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  ➔ Ingreso no capturado: $250 - $400 USD/mes.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----------------------------------------------------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PÉRDIDA TOTAL ESTIMADA: $860 - $1,300 USD / MES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4532D"/>
                </a:solidFill>
              </a:defRPr>
            </a:pPr>
            <a:r>
              <a:t>📈 Ahorro &amp; Ganancia con AquaPure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Recuperación del 95% del control de envases: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  ➔ Ahorro directo en compras: +$350 USD/mes.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Cero fugas de caja gracias al arqueo ciego auditado: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  ➔ Recuperación inmediata: +$200 USD/mes.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Atención 70% más rápida (Aumento de ventas en horas pico):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  ➔ Incremento de ingresos: +$350 USD/mes.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Optimización de rutas y mermas en camiones: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  ➔ Eficiencia logística: +$150 USD/mes.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----------------------------------------------------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BENEFICIO NETO MENSUAL: +$1,050 USD / MES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🚀 Retorno total de inversión en menos de 90 días.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7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A896"/>
                </a:solidFill>
              </a:defRPr>
            </a:pPr>
            <a:r>
              <a:t>5. SOLIDEZ TÉCNICA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Arquitectura Tecnológica: Confiabilidad y Alto Rendimiento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AquaPureSystem — Software Especializado de Gestión y Punto de Venta para Purificadoras de Agua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3832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70F3"/>
                </a:solidFill>
              </a:defRPr>
            </a:pPr>
            <a:r>
              <a:t>💻 Capa Frontend (Nuxt 4 / Vue 3)</a:t>
            </a:r>
          </a:p>
          <a:p>
            <a:pPr>
              <a:spcAft>
                <a:spcPts val="800"/>
              </a:spcAft>
              <a:defRPr sz="1100" b="1">
                <a:solidFill>
                  <a:srgbClr val="0070F3"/>
                </a:solidFill>
              </a:defRPr>
            </a:pPr>
            <a:r>
              <a:t>⭐ Experiencia Fluida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Interfaz intuitiva de última generación.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Vue 3 Composition API + Pinia Stores.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Diseño responsivo optimizado para pantallas táctiles y teclado POS.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Generación directa de tickets térmicos ESC/POS y reportes PDF/Excel.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Modo Desktop / Local de alta disponibilidad.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3832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0876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A896"/>
                </a:solidFill>
              </a:defRPr>
            </a:pPr>
            <a:r>
              <a:t>⚙️ Backend Real-Time (Feathers.js)</a:t>
            </a:r>
          </a:p>
          <a:p>
            <a:pPr>
              <a:spcAft>
                <a:spcPts val="800"/>
              </a:spcAft>
              <a:defRPr sz="1100" b="1">
                <a:solidFill>
                  <a:srgbClr val="0070F3"/>
                </a:solidFill>
              </a:defRPr>
            </a:pPr>
            <a:r>
              <a:t>⭐ Sub-segundo &amp; Reactivo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Arquitectura Limpia (Clean Architecture + DDD).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Inyección de dependencias con InversifyJS.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Sincronización en vivo mediante WebSockets (Socket.io) para stock y caja.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Seguridad robusta: Autenticación JWT, roles de usuario y cifrado de contraseñas.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API REST modular y altamente desacoplada.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50876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A2540"/>
                </a:solidFill>
              </a:defRPr>
            </a:pPr>
            <a:r>
              <a:t>🗄️ Persistencia de Datos (Postgres &amp; Redis)</a:t>
            </a:r>
          </a:p>
          <a:p>
            <a:pPr>
              <a:spcAft>
                <a:spcPts val="800"/>
              </a:spcAft>
              <a:defRPr sz="1100" b="1">
                <a:solidFill>
                  <a:srgbClr val="0070F3"/>
                </a:solidFill>
              </a:defRPr>
            </a:pPr>
            <a:r>
              <a:t>⭐ Integridad Transaccional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PostgreSQL 16: Transacciones ACID que garantizan integridad total de cobros.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Prisma ORM v5: Consultas optimizadas con índices avanzados.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Redis v7: Caché en memoria para respuesta instantánea.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Conexión nativa directa vía .env sin requerir dependencias pesadas de Docker.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Copias de seguridad y respaldo automatizado.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7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A896"/>
                </a:solidFill>
              </a:defRPr>
            </a:pPr>
            <a:r>
              <a:t>6. HOJA DE RUTA Y DESPLIEGUE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Plan de Implementación y Puesta en Marcha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AquaPureSystem — Software Especializado de Gestión y Punto de Venta para Purificadoras de Agua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4688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2103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A2540"/>
                </a:solidFill>
              </a:defRPr>
            </a:pPr>
            <a:r>
              <a:t>Fase 1: Configuración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Duración: Días 1 a 3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---------------------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• Instalación de base de datos PostgreSQL y Redis.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• Carga de catálogo de productos (Recargas 19L, Botellas, Filtros, Accesorios).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• Configuración de almacenes y camiones de reparto.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• Creación de usuarios y roles de cajeros/operadores.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371600"/>
            <a:ext cx="24688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508760"/>
            <a:ext cx="2103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70F3"/>
                </a:solidFill>
              </a:defRPr>
            </a:pPr>
            <a:r>
              <a:t>Fase 2: Periféricos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Duración: Días 4 a 6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---------------------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• Integración con impresoras térmicas POS de 58mm/80mm.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• Configuración de formatos de ticket térmico y comprobantes.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• Pruebas de atajos de teclado POS y lectores de código de barras.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• Calibración de tasas de cambio y monedas.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24688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08760"/>
            <a:ext cx="2103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A896"/>
                </a:solidFill>
              </a:defRPr>
            </a:pPr>
            <a:r>
              <a:t>Fase 3: Capacitación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Duración: Días 7 a 9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---------------------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• Entrenamiento a cajeros en POS Express y atajos rápidos.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• Capacitación a operadores en recepción e inspección de envases.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• Capacitación a supervisores en arqueo de caja y reportes gerenciales.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• Simulación de escenarios reales.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371600"/>
            <a:ext cx="246888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1508760"/>
            <a:ext cx="2103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Fase 4: Go-Live &amp; Éxito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Duración: Día 10 en adelante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---------------------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• Inicio de operaciones en vivo.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• Acompañamiento técnico presencial/remoto durante horas pico.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• Auditoría de los primeros arqueos de caja y cuadres de stock.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• Soporte continuo y actualizaciones de software.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3000" b="1">
                <a:solidFill>
                  <a:srgbClr val="00D4B2"/>
                </a:solidFill>
              </a:defRPr>
            </a:pPr>
            <a:r>
              <a:t>Conclusión: La Ventaja Competitiva de AquaPureSystem</a:t>
            </a:r>
          </a:p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✅ Blindaje total contra la pérdida de envases retornables de 19L.</a:t>
            </a:r>
          </a:p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✅ Cuadres de caja exactos y transparentes sin fricción con el personal.</a:t>
            </a:r>
          </a:p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✅ Atención express en horas pico que incrementa las ventas hasta un 40%.</a:t>
            </a:r>
          </a:p>
          <a:p>
            <a:pPr>
              <a:spcAft>
                <a:spcPts val="3000"/>
              </a:spcAft>
              <a:defRPr sz="1800" b="1">
                <a:solidFill>
                  <a:srgbClr val="FEF08A"/>
                </a:solidFill>
              </a:defRPr>
            </a:pPr>
            <a:r>
              <a:t>✅ Retorno de inversión comprobado en menos de 3 meses ($1,000+ USD/mes de beneficio neto).</a:t>
            </a:r>
          </a:p>
          <a:p>
            <a:pPr>
              <a:defRPr sz="2000" b="1">
                <a:solidFill>
                  <a:srgbClr val="00D4B2"/>
                </a:solidFill>
              </a:defRPr>
            </a:pPr>
            <a:r>
              <a:t>🚀 ¡Listo para transformar la rentabilidad y eficiencia de tu purificadora de agua!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